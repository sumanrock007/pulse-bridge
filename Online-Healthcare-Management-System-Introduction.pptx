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Roboto Mon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0"/>
            <a:ext cx="6603835" cy="3429000"/>
          </a:xfrm>
          <a:prstGeom prst="roundRect">
            <a:avLst>
              <a:gd name="adj" fmla="val 1111"/>
            </a:avLst>
          </a:prstGeom>
          <a:solidFill>
            <a:srgbClr val="122D46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312230"/>
            <a:ext cx="650223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84" kern="100" dirty="0">
                <a:solidFill>
                  <a:srgbClr val="AFE0DA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ONLINE HEALTHCARE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5176" y="695920"/>
            <a:ext cx="5892653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0" b="1" spc="-120" kern="100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HEALTHCARE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65176" y="1634958"/>
            <a:ext cx="5892653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100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5176" y="2392561"/>
            <a:ext cx="1944440" cy="50701"/>
          </a:xfrm>
          <a:prstGeom prst="roundRect">
            <a:avLst>
              <a:gd name="adj" fmla="val 49999"/>
            </a:avLst>
          </a:prstGeom>
          <a:solidFill>
            <a:srgbClr val="1C877D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754828"/>
            <a:ext cx="650223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7E6E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Java-Based Healthcare Management Application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99565" y="3887986"/>
            <a:ext cx="7111822" cy="2742605"/>
          </a:xfrm>
          <a:prstGeom prst="roundRect">
            <a:avLst>
              <a:gd name="adj" fmla="val 1389"/>
            </a:avLst>
          </a:prstGeom>
          <a:solidFill>
            <a:srgbClr val="122D46"/>
          </a:solidFill>
          <a:ln/>
        </p:spPr>
      </p:sp>
      <p:sp>
        <p:nvSpPr>
          <p:cNvPr id="9" name="Text 7"/>
          <p:cNvSpPr/>
          <p:nvPr/>
        </p:nvSpPr>
        <p:spPr>
          <a:xfrm>
            <a:off x="1828159" y="4112141"/>
            <a:ext cx="6654634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GROUP MEMBER                                                                                               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1.   SUMAN KUMAR  ( leader)                                                                                  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2.  ASHUTOSH JHA                                                                                  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3.  ABHIJIT SRIVASTAV                                                                        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     4. ADITYA KUMAR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159" y="6573142"/>
            <a:ext cx="6654634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630"/>
            <a:ext cx="42366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84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01 / THE SYSTEM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96758"/>
            <a:ext cx="3779445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554361"/>
            <a:ext cx="1247148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97578"/>
            <a:ext cx="3779445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centralized platform for managing healthcare activities.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4473972"/>
            <a:ext cx="3779445" cy="19268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08100" y="579537"/>
            <a:ext cx="6126406" cy="1498302"/>
          </a:xfrm>
          <a:prstGeom prst="roundRect">
            <a:avLst>
              <a:gd name="adj" fmla="val 763"/>
            </a:avLst>
          </a:prstGeom>
          <a:solidFill>
            <a:srgbClr val="EEECE4"/>
          </a:solidFill>
          <a:ln/>
        </p:spPr>
      </p:sp>
      <p:sp>
        <p:nvSpPr>
          <p:cNvPr id="8" name="Text 5"/>
          <p:cNvSpPr/>
          <p:nvPr/>
        </p:nvSpPr>
        <p:spPr>
          <a:xfrm>
            <a:off x="5836695" y="711109"/>
            <a:ext cx="5669218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PATIENTS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836695" y="1301274"/>
            <a:ext cx="5669218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Register, search doctors, book appointments, and access prescriptions and bills.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08100" y="2230239"/>
            <a:ext cx="6126406" cy="1498302"/>
          </a:xfrm>
          <a:prstGeom prst="roundRect">
            <a:avLst>
              <a:gd name="adj" fmla="val 763"/>
            </a:avLst>
          </a:prstGeom>
          <a:solidFill>
            <a:srgbClr val="EEECE4"/>
          </a:solidFill>
          <a:ln/>
        </p:spPr>
      </p:sp>
      <p:sp>
        <p:nvSpPr>
          <p:cNvPr id="11" name="Text 8"/>
          <p:cNvSpPr/>
          <p:nvPr/>
        </p:nvSpPr>
        <p:spPr>
          <a:xfrm>
            <a:off x="5836695" y="2361811"/>
            <a:ext cx="5669218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DOCTORS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836695" y="2951976"/>
            <a:ext cx="5669218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 appointments, review patient details, and record diagnosis and prescriptions.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08100" y="3880941"/>
            <a:ext cx="6126406" cy="1498302"/>
          </a:xfrm>
          <a:prstGeom prst="roundRect">
            <a:avLst>
              <a:gd name="adj" fmla="val 763"/>
            </a:avLst>
          </a:prstGeom>
          <a:solidFill>
            <a:srgbClr val="EEECE4"/>
          </a:solidFill>
          <a:ln/>
        </p:spPr>
      </p:sp>
      <p:sp>
        <p:nvSpPr>
          <p:cNvPr id="14" name="Text 11"/>
          <p:cNvSpPr/>
          <p:nvPr/>
        </p:nvSpPr>
        <p:spPr>
          <a:xfrm>
            <a:off x="5836695" y="4012513"/>
            <a:ext cx="5669218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ADMIN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836695" y="4602678"/>
            <a:ext cx="5669218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 doctors, patients, departments, appointments, and system records.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608100" y="5628799"/>
            <a:ext cx="6126406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Goal:</a:t>
            </a:r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make healthcare management more organized, efficient, and less dependent on manual processes.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3128"/>
            <a:ext cx="429765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78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 / THE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65158"/>
            <a:ext cx="3840463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50" b="1" spc="-32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457189" y="1451967"/>
            <a:ext cx="1267190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5516722" y="477409"/>
            <a:ext cx="6217784" cy="600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Disconnected records and manual coordination make healthcare activity harder to manage.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57189" y="2672723"/>
            <a:ext cx="3149521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50" b="1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Patient records</a:t>
            </a:r>
            <a:pPr algn="l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are often difficult to maintain and retrieve.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521087" y="2672723"/>
            <a:ext cx="3149521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50" b="1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Manual appointment scheduling</a:t>
            </a:r>
            <a:pPr algn="l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can be slow and error-prone.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84985" y="2672723"/>
            <a:ext cx="3149521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50" b="1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Paper-based prescriptions and records</a:t>
            </a:r>
            <a:pPr algn="l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create unnecessary paperwork.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7189" y="4487533"/>
            <a:ext cx="3149521" cy="600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Healthcare information may not be </a:t>
            </a:r>
            <a:pPr algn="l" indent="0" marL="0">
              <a:lnSpc>
                <a:spcPct val="106000"/>
              </a:lnSpc>
              <a:buNone/>
            </a:pPr>
            <a:r>
              <a:rPr lang="en-US" sz="1850" b="1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centralized</a:t>
            </a:r>
            <a:pPr algn="l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21087" y="4487533"/>
            <a:ext cx="7670608" cy="300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Patients, doctors, and administrators need a </a:t>
            </a:r>
            <a:pPr algn="l" indent="0" marL="0">
              <a:lnSpc>
                <a:spcPct val="106000"/>
              </a:lnSpc>
              <a:buNone/>
            </a:pPr>
            <a:r>
              <a:rPr lang="en-US" sz="1850" b="1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simpler workflow</a:t>
            </a:r>
            <a:pPr algn="l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0" y="6021983"/>
            <a:ext cx="12191695" cy="706537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245392"/>
            <a:ext cx="12191695" cy="300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50" b="1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PROPOSED SOLUTION</a:t>
            </a:r>
            <a:pPr algn="ctr"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One centralized digital healthcare management system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4057548" y="2195314"/>
            <a:ext cx="12700" cy="1814810"/>
          </a:xfrm>
          <a:prstGeom prst="rect">
            <a:avLst/>
          </a:prstGeom>
          <a:solidFill>
            <a:srgbClr val="3F5A6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1447" y="2195314"/>
            <a:ext cx="12700" cy="1814810"/>
          </a:xfrm>
          <a:prstGeom prst="rect">
            <a:avLst/>
          </a:prstGeom>
          <a:solidFill>
            <a:srgbClr val="3F5A6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003774"/>
            <a:ext cx="4063898" cy="12700"/>
          </a:xfrm>
          <a:prstGeom prst="rect">
            <a:avLst/>
          </a:prstGeom>
          <a:solidFill>
            <a:srgbClr val="3F5A6C"/>
          </a:solidFill>
          <a:ln/>
        </p:spPr>
      </p:sp>
      <p:sp>
        <p:nvSpPr>
          <p:cNvPr id="16" name="Shape 14"/>
          <p:cNvSpPr/>
          <p:nvPr/>
        </p:nvSpPr>
        <p:spPr>
          <a:xfrm>
            <a:off x="4057548" y="4010124"/>
            <a:ext cx="12700" cy="1814810"/>
          </a:xfrm>
          <a:prstGeom prst="rect">
            <a:avLst/>
          </a:prstGeom>
          <a:solidFill>
            <a:srgbClr val="3F5A6C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4003774"/>
            <a:ext cx="8127797" cy="12700"/>
          </a:xfrm>
          <a:prstGeom prst="rect">
            <a:avLst/>
          </a:prstGeom>
          <a:solidFill>
            <a:srgbClr val="3F5A6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63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84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 / PROJECT DIRECTION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96758"/>
            <a:ext cx="1127731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554361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97578"/>
            <a:ext cx="1173450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Six practical objectives define what the system must improve.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2440484"/>
            <a:ext cx="3682908" cy="1903909"/>
          </a:xfrm>
          <a:prstGeom prst="roundRect">
            <a:avLst>
              <a:gd name="adj" fmla="val 600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82" y="27198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34" y="2815134"/>
            <a:ext cx="83927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6582" y="3270555"/>
            <a:ext cx="3124122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Digitize records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292493" y="2440484"/>
            <a:ext cx="3606710" cy="1903909"/>
          </a:xfrm>
          <a:prstGeom prst="roundRect">
            <a:avLst>
              <a:gd name="adj" fmla="val 600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1886" y="27198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953" y="2815134"/>
            <a:ext cx="8938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1886" y="3270555"/>
            <a:ext cx="3047924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Simplify appointments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51599" y="2440484"/>
            <a:ext cx="3682908" cy="1903909"/>
          </a:xfrm>
          <a:prstGeom prst="roundRect">
            <a:avLst>
              <a:gd name="adj" fmla="val 600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992" y="27198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3639" y="2815134"/>
            <a:ext cx="88877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30992" y="3270555"/>
            <a:ext cx="3124122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Manage prescriptions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57189" y="4496792"/>
            <a:ext cx="3682908" cy="1904008"/>
          </a:xfrm>
          <a:prstGeom prst="roundRect">
            <a:avLst>
              <a:gd name="adj" fmla="val 600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582" y="4776192"/>
            <a:ext cx="445283" cy="445294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780" y="4871839"/>
            <a:ext cx="90247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6582" y="5327658"/>
            <a:ext cx="3124122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Maintain billing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292493" y="4496792"/>
            <a:ext cx="3606710" cy="1904008"/>
          </a:xfrm>
          <a:prstGeom prst="roundRect">
            <a:avLst>
              <a:gd name="adj" fmla="val 600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1886" y="4776192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632" y="4871442"/>
            <a:ext cx="8884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1886" y="5326864"/>
            <a:ext cx="304792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Reduce paperwork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8051599" y="4496792"/>
            <a:ext cx="3682908" cy="1904008"/>
          </a:xfrm>
          <a:prstGeom prst="roundRect">
            <a:avLst>
              <a:gd name="adj" fmla="val 600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0992" y="4776192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3837" y="4871442"/>
            <a:ext cx="88828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330992" y="5326864"/>
            <a:ext cx="3124122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Improve efficiency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1658"/>
            <a:ext cx="1173450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50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04 / ROLE-BASED FUNCTIONALITY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189" y="635154"/>
            <a:ext cx="11277318" cy="27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50" b="1" spc="-20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Proposed System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457189" y="1030883"/>
            <a:ext cx="3721503" cy="19050"/>
          </a:xfrm>
          <a:prstGeom prst="roundRect">
            <a:avLst>
              <a:gd name="adj" fmla="val 49999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180606"/>
            <a:ext cx="11734506" cy="160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role sees the healthcare tasks it needs to complete.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581400"/>
            <a:ext cx="7132161" cy="1375370"/>
          </a:xfrm>
          <a:prstGeom prst="rect">
            <a:avLst/>
          </a:prstGeom>
          <a:solidFill>
            <a:srgbClr val="EEECE4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4040711"/>
            <a:ext cx="6217784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50" spc="-8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ADMIN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189" y="4348959"/>
            <a:ext cx="6674973" cy="160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 doctors, patients, departments, and monitor appointments.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109170"/>
            <a:ext cx="7132161" cy="1375370"/>
          </a:xfrm>
          <a:prstGeom prst="rect">
            <a:avLst/>
          </a:prstGeom>
          <a:solidFill>
            <a:srgbClr val="EEECE4"/>
          </a:solidFill>
          <a:ln/>
        </p:spPr>
      </p:sp>
      <p:sp>
        <p:nvSpPr>
          <p:cNvPr id="10" name="Text 8"/>
          <p:cNvSpPr/>
          <p:nvPr/>
        </p:nvSpPr>
        <p:spPr>
          <a:xfrm>
            <a:off x="457189" y="5568481"/>
            <a:ext cx="6217784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50" spc="-8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DOCTOR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189" y="5876729"/>
            <a:ext cx="6674973" cy="160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View appointments, view patient details, update status, and add diagnosis &amp; prescription.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636941"/>
            <a:ext cx="7132161" cy="1375370"/>
          </a:xfrm>
          <a:prstGeom prst="rect">
            <a:avLst/>
          </a:prstGeom>
          <a:solidFill>
            <a:srgbClr val="EEECE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189" y="7096251"/>
            <a:ext cx="6217784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50" spc="-8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PATIENT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189" y="7404499"/>
            <a:ext cx="6674973" cy="160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Register / Login, search doctors, book appointments, and view history &amp; bills.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43" y="4038600"/>
            <a:ext cx="3840463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63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84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05 / TECHNICAL FOUNDATION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96758"/>
            <a:ext cx="1127731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554361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97578"/>
            <a:ext cx="1173450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four-layer structure separates interface, logic, connectivity, and storage.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2440484"/>
            <a:ext cx="2705032" cy="396031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7" name="Shape 5"/>
          <p:cNvSpPr/>
          <p:nvPr/>
        </p:nvSpPr>
        <p:spPr>
          <a:xfrm>
            <a:off x="685783" y="26690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3135" y="2764334"/>
            <a:ext cx="83927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783" y="3217352"/>
            <a:ext cx="2247844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PRESENTATION LAYER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783" y="4079498"/>
            <a:ext cx="2247844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Java Swing User Interface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4617" y="2440484"/>
            <a:ext cx="2705032" cy="3960316"/>
          </a:xfrm>
          <a:prstGeom prst="rect">
            <a:avLst/>
          </a:prstGeom>
          <a:solidFill>
            <a:srgbClr val="3F5A6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43211" y="26690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3279" y="2764334"/>
            <a:ext cx="8938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43211" y="3217352"/>
            <a:ext cx="2247844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APPLICATION LAYER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43211" y="4079498"/>
            <a:ext cx="2247844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Java business logic &amp; validation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72046" y="2440484"/>
            <a:ext cx="2705032" cy="396031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640" y="26690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287" y="2764334"/>
            <a:ext cx="88877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640" y="3217352"/>
            <a:ext cx="2247844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DATA ACCESS LAYER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640" y="4079498"/>
            <a:ext cx="247643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JDBC / DAO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29474" y="2440484"/>
            <a:ext cx="2705032" cy="3960316"/>
          </a:xfrm>
          <a:prstGeom prst="rect">
            <a:avLst/>
          </a:prstGeom>
          <a:solidFill>
            <a:srgbClr val="3F5A6C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8068" y="2669084"/>
            <a:ext cx="445283" cy="445294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4266" y="2764730"/>
            <a:ext cx="90247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58068" y="3218146"/>
            <a:ext cx="2247844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DATABASE LAYER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58068" y="3750687"/>
            <a:ext cx="247643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MySQL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72079"/>
            <a:ext cx="117345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82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06 / IMPLEMENTATION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57189" y="785823"/>
            <a:ext cx="11277318" cy="452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00" b="1" spc="-33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189" y="1512391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39469"/>
            <a:ext cx="1173450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system combines Java development, desktop UI, relational storage, and structured connectivity.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7189" y="2356048"/>
            <a:ext cx="3682908" cy="1330027"/>
          </a:xfrm>
          <a:prstGeom prst="roundRect">
            <a:avLst>
              <a:gd name="adj" fmla="val 859"/>
            </a:avLst>
          </a:prstGeom>
          <a:solidFill>
            <a:srgbClr val="EEECE4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2589751"/>
            <a:ext cx="3225719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Java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783" y="3156400"/>
            <a:ext cx="345431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programming &amp; OOP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292493" y="2356048"/>
            <a:ext cx="3606710" cy="1330027"/>
          </a:xfrm>
          <a:prstGeom prst="roundRect">
            <a:avLst>
              <a:gd name="adj" fmla="val 859"/>
            </a:avLst>
          </a:prstGeom>
          <a:solidFill>
            <a:srgbClr val="EEECE4"/>
          </a:solidFill>
          <a:ln/>
        </p:spPr>
      </p:sp>
      <p:sp>
        <p:nvSpPr>
          <p:cNvPr id="10" name="Text 8"/>
          <p:cNvSpPr/>
          <p:nvPr/>
        </p:nvSpPr>
        <p:spPr>
          <a:xfrm>
            <a:off x="4521087" y="2589751"/>
            <a:ext cx="3149521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Java Swing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521087" y="3156400"/>
            <a:ext cx="3378115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Desktop graphical interface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051599" y="2356048"/>
            <a:ext cx="3682908" cy="1330027"/>
          </a:xfrm>
          <a:prstGeom prst="roundRect">
            <a:avLst>
              <a:gd name="adj" fmla="val 859"/>
            </a:avLst>
          </a:prstGeom>
          <a:solidFill>
            <a:srgbClr val="EEECE4"/>
          </a:solidFill>
          <a:ln/>
        </p:spPr>
      </p:sp>
      <p:sp>
        <p:nvSpPr>
          <p:cNvPr id="13" name="Text 11"/>
          <p:cNvSpPr/>
          <p:nvPr/>
        </p:nvSpPr>
        <p:spPr>
          <a:xfrm>
            <a:off x="8280193" y="2589751"/>
            <a:ext cx="3225719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MySQL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280193" y="3156400"/>
            <a:ext cx="345431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Relational database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57189" y="3838476"/>
            <a:ext cx="3682908" cy="1330027"/>
          </a:xfrm>
          <a:prstGeom prst="roundRect">
            <a:avLst>
              <a:gd name="adj" fmla="val 859"/>
            </a:avLst>
          </a:prstGeom>
          <a:solidFill>
            <a:srgbClr val="EEECE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783" y="4072178"/>
            <a:ext cx="3225719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JDBC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85783" y="4638827"/>
            <a:ext cx="345431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Java–database connectivity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292493" y="3838476"/>
            <a:ext cx="3606710" cy="1330027"/>
          </a:xfrm>
          <a:prstGeom prst="roundRect">
            <a:avLst>
              <a:gd name="adj" fmla="val 859"/>
            </a:avLst>
          </a:prstGeom>
          <a:solidFill>
            <a:srgbClr val="EEECE4"/>
          </a:solidFill>
          <a:ln/>
        </p:spPr>
      </p:sp>
      <p:sp>
        <p:nvSpPr>
          <p:cNvPr id="19" name="Text 17"/>
          <p:cNvSpPr/>
          <p:nvPr/>
        </p:nvSpPr>
        <p:spPr>
          <a:xfrm>
            <a:off x="4521087" y="4072178"/>
            <a:ext cx="3149521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IDE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521087" y="4638827"/>
            <a:ext cx="3378115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Eclipse / IntelliJ / NetBeans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051599" y="3838476"/>
            <a:ext cx="3682908" cy="1330027"/>
          </a:xfrm>
          <a:prstGeom prst="roundRect">
            <a:avLst>
              <a:gd name="adj" fmla="val 859"/>
            </a:avLst>
          </a:prstGeom>
          <a:solidFill>
            <a:srgbClr val="EEECE4"/>
          </a:solidFill>
          <a:ln/>
        </p:spPr>
      </p:sp>
      <p:sp>
        <p:nvSpPr>
          <p:cNvPr id="22" name="Text 20"/>
          <p:cNvSpPr/>
          <p:nvPr/>
        </p:nvSpPr>
        <p:spPr>
          <a:xfrm>
            <a:off x="8280193" y="4072178"/>
            <a:ext cx="3225719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Architecture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280193" y="4638827"/>
            <a:ext cx="345431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MVC / 3-Tier approach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57189" y="5403804"/>
            <a:ext cx="11277318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50" b="1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 concepts:</a:t>
            </a:r>
            <a:pPr algn="ctr"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Classes · Objects · Encapsulation · Inheritance · Polymorphism · Exception Handling · Collections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63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84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07 / FUNCTIONAL 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96758"/>
            <a:ext cx="1127731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Major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554361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97578"/>
            <a:ext cx="1173450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Eight modules organize access, care delivery, records, and administration.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2440484"/>
            <a:ext cx="2743131" cy="1884958"/>
          </a:xfrm>
          <a:prstGeom prst="roundRect">
            <a:avLst>
              <a:gd name="adj" fmla="val 606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5" y="2592884"/>
            <a:ext cx="636075" cy="636091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80" y="2783979"/>
            <a:ext cx="83927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3335147"/>
            <a:ext cx="2438339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Authentication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52716" y="2440484"/>
            <a:ext cx="2666933" cy="1884958"/>
          </a:xfrm>
          <a:prstGeom prst="roundRect">
            <a:avLst>
              <a:gd name="adj" fmla="val 606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5112" y="2592884"/>
            <a:ext cx="690644" cy="690662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8307" y="2811165"/>
            <a:ext cx="8938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05112" y="3389717"/>
            <a:ext cx="2362141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Patient Management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172046" y="2440484"/>
            <a:ext cx="2666933" cy="1884958"/>
          </a:xfrm>
          <a:prstGeom prst="roundRect">
            <a:avLst>
              <a:gd name="adj" fmla="val 606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442" y="2592884"/>
            <a:ext cx="685584" cy="685602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7637" y="2808684"/>
            <a:ext cx="88877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24442" y="3384657"/>
            <a:ext cx="2362141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Doctor Management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991375" y="2440484"/>
            <a:ext cx="2743131" cy="1884958"/>
          </a:xfrm>
          <a:prstGeom prst="roundRect">
            <a:avLst>
              <a:gd name="adj" fmla="val 606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3771" y="2592884"/>
            <a:ext cx="699276" cy="699294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6966" y="2815530"/>
            <a:ext cx="90247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3771" y="3398349"/>
            <a:ext cx="2438339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Appointment Management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57189" y="4477841"/>
            <a:ext cx="2743131" cy="1871762"/>
          </a:xfrm>
          <a:prstGeom prst="roundRect">
            <a:avLst>
              <a:gd name="adj" fmla="val 611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85" y="4630241"/>
            <a:ext cx="685287" cy="685304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780" y="4845844"/>
            <a:ext cx="8884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9585" y="5421717"/>
            <a:ext cx="2438339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Prescription Management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352716" y="4477841"/>
            <a:ext cx="2666933" cy="1871762"/>
          </a:xfrm>
          <a:prstGeom prst="roundRect">
            <a:avLst>
              <a:gd name="adj" fmla="val 611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05112" y="4630241"/>
            <a:ext cx="685088" cy="685105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8307" y="4845745"/>
            <a:ext cx="88828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505112" y="5421519"/>
            <a:ext cx="2362141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Billing Management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6172046" y="4477841"/>
            <a:ext cx="2666933" cy="1871762"/>
          </a:xfrm>
          <a:prstGeom prst="roundRect">
            <a:avLst>
              <a:gd name="adj" fmla="val 611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24442" y="4630241"/>
            <a:ext cx="674671" cy="674688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7637" y="4840585"/>
            <a:ext cx="8778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24442" y="5411101"/>
            <a:ext cx="2362141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Admin Management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991375" y="4477841"/>
            <a:ext cx="2743131" cy="1871762"/>
          </a:xfrm>
          <a:prstGeom prst="roundRect">
            <a:avLst>
              <a:gd name="adj" fmla="val 611"/>
            </a:avLst>
          </a:prstGeom>
          <a:noFill/>
          <a:ln w="25399">
            <a:solidFill>
              <a:srgbClr val="D4D2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3771" y="4630241"/>
            <a:ext cx="686080" cy="686098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6966" y="4846241"/>
            <a:ext cx="88927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143771" y="5422511"/>
            <a:ext cx="2438339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Department Management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63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84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08 / DATA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96758"/>
            <a:ext cx="1127731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554361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97578"/>
            <a:ext cx="1173450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MySQL relational database connects the people, care events, and financial records.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2669084"/>
            <a:ext cx="3566031" cy="35031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85101" y="2671252"/>
            <a:ext cx="3398455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ADMIN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35952" y="2671252"/>
            <a:ext cx="3398554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PATIENT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85101" y="3153256"/>
            <a:ext cx="3398455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DOCTOR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335952" y="3153256"/>
            <a:ext cx="3398554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DEPARTMENT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85101" y="3635261"/>
            <a:ext cx="3398455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APPOINTMENT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35952" y="3635261"/>
            <a:ext cx="3398554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PRESCRIPTION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85101" y="4117266"/>
            <a:ext cx="6949405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BILL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785101" y="4593927"/>
            <a:ext cx="6949405" cy="1305520"/>
          </a:xfrm>
          <a:prstGeom prst="roundRect">
            <a:avLst>
              <a:gd name="adj" fmla="val 875"/>
            </a:avLst>
          </a:prstGeom>
          <a:solidFill>
            <a:srgbClr val="F9DED2"/>
          </a:solidFill>
          <a:ln/>
        </p:spPr>
      </p:sp>
      <p:sp>
        <p:nvSpPr>
          <p:cNvPr id="15" name="Text 12"/>
          <p:cNvSpPr/>
          <p:nvPr/>
        </p:nvSpPr>
        <p:spPr>
          <a:xfrm>
            <a:off x="5039095" y="4932382"/>
            <a:ext cx="6441418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PATIENT</a:t>
            </a:r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</a:t>
            </a:r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APPOINTMENT</a:t>
            </a:r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← </a:t>
            </a:r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DOCTOR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APPOINTMENT</a:t>
            </a:r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</a:t>
            </a:r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PRESCRIPTION</a:t>
            </a:r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</a:t>
            </a:r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APPOINTMENT</a:t>
            </a:r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</a:t>
            </a:r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BILL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63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84" kern="100" dirty="0">
                <a:solidFill>
                  <a:srgbClr val="3F5A6C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09 / APPOINTMENT TO PRESCRIPTION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96758"/>
            <a:ext cx="1127731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spc="-3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554361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97578"/>
            <a:ext cx="1173450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patient journey moves from access and selection to confirmed care and a recorded prescription.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24404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4541" y="2535734"/>
            <a:ext cx="83927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2988752"/>
            <a:ext cx="3682908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REGISTER / LOGIN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2493" y="24404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2560" y="2535734"/>
            <a:ext cx="8938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2493" y="2988752"/>
            <a:ext cx="3606710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VIEW DOCTORS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51599" y="2440484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4246" y="2535734"/>
            <a:ext cx="88877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51599" y="2988752"/>
            <a:ext cx="3682908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SELECT DOCTOR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189" y="3468489"/>
            <a:ext cx="445283" cy="445294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387" y="3564136"/>
            <a:ext cx="90247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189" y="4017551"/>
            <a:ext cx="3682908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CHOOSE DATE &amp; TIME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292493" y="3468489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5239" y="3563739"/>
            <a:ext cx="8884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92493" y="4016757"/>
            <a:ext cx="3606710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BOOK APPOINTMENT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51599" y="3468489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4444" y="3563739"/>
            <a:ext cx="88828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51599" y="4016757"/>
            <a:ext cx="3682908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DOCTOR CONFIRMS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7189" y="4497288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5293" y="4592538"/>
            <a:ext cx="87786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189" y="5045556"/>
            <a:ext cx="3682908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CONSULTATION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292493" y="4497288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4842" y="4592538"/>
            <a:ext cx="88927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08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292493" y="5045556"/>
            <a:ext cx="3606710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PRESCRIPTION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051599" y="4497288"/>
            <a:ext cx="444489" cy="444500"/>
          </a:xfrm>
          <a:prstGeom prst="ellipse">
            <a:avLst/>
          </a:prstGeom>
          <a:solidFill>
            <a:srgbClr val="C6501A"/>
          </a:solidFill>
          <a:ln w="12700">
            <a:solidFill>
              <a:srgbClr val="D4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4742" y="4592538"/>
            <a:ext cx="88778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09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051599" y="5045556"/>
            <a:ext cx="3682908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00" spc="-11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BILL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57189" y="5601593"/>
            <a:ext cx="11277318" cy="640060"/>
          </a:xfrm>
          <a:prstGeom prst="rect">
            <a:avLst/>
          </a:prstGeom>
          <a:solidFill>
            <a:srgbClr val="C6501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189" y="5774948"/>
            <a:ext cx="1127731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PENDING → ACCEPTED → COMPLETED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2026-10-15T03:21:46Z</dcterms:created>
  <dcterms:modified xsi:type="dcterms:W3CDTF">2026-10-15T03:21:46Z</dcterms:modified>
</cp:coreProperties>
</file>